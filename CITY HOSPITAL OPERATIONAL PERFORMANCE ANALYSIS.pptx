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315" r:id="rId7"/>
    <p:sldId id="316" r:id="rId8"/>
    <p:sldId id="314" r:id="rId9"/>
    <p:sldId id="310" r:id="rId10"/>
    <p:sldId id="312" r:id="rId11"/>
    <p:sldId id="313" r:id="rId12"/>
    <p:sldId id="311" r:id="rId1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CBFE"/>
    <a:srgbClr val="C8D1FC"/>
    <a:srgbClr val="1507C5"/>
    <a:srgbClr val="1A0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41" autoAdjust="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49D90-02B4-4BC1-AEF2-B07A830DDC28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D91FC-4D46-4ABE-A222-96765B64BB8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36921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D91FC-4D46-4ABE-A222-96765B64BB80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32300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9837-68B4-AE23-1CC6-1377DCCA8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2508E-9E77-1917-88B5-9E1AB82E9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8707E-BCCE-F936-8F70-EF7091BD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D5C17-75A5-8E44-19FD-4B745A4D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6C9BB-AC76-027F-29CB-036AFAADB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037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0309-91AF-15F8-948F-BDA3E4E2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68D76-4EA9-E678-CE81-2A501124D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1790A-0761-5B1D-4995-4DD9BA7E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217DB-91CE-C753-92A7-D9299FBA2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564E3-195F-3A74-62EF-361A59A7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8893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6495-36BD-CEA9-6B1B-18FFB533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E87D4-EA68-2E3D-9784-A4694A8A7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C6A59-5DD9-E0BD-5722-392A6544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9893D-B76C-89A3-DFA2-6DF13BB6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03436-B0F7-419E-C6DC-4C66DB8C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8117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815E6-FF49-23F4-2BC7-03D8C8802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A14D4-C71A-4075-1422-9FD012945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7DDF0-A181-20CE-750C-077774565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4E7C6-75DA-97D3-051F-BFC609EC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80D0B-5FC1-A203-F80F-70064D20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4A45F-C522-1918-216C-AA93808A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7120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CD12D-F367-3E51-20D1-AE4C8EAF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732B7-4395-1843-BEF8-94F285108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1A876-465A-0022-EE5E-05360DD65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D0859-B728-9156-7CB9-78EAB5317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85DB1-57FC-EFDC-2E32-9C55E491D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BAE473-D556-F166-4D34-381BEAB46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46BEB7-E9DA-09E5-6A59-A5F81391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6A2FF-7A6E-8F47-CDAD-C7780D65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572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7C40-1C0D-B992-9AC7-B05000BF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54B7F-0F88-222A-CE56-A9775064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53DE8-B388-0A59-E5E5-AAECD658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B6865-257C-299B-40AB-DFB131B4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3184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FB5C26-7167-847A-AD90-9C0C4977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D4517-B490-28F4-EE75-DCB84752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6F92C-EB0B-6233-C6BC-0C62E7EC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8037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4C0C-D1C6-B3CE-35F8-8450278FE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1C48C-8D37-B392-BFBF-2EA0F3E7C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9AFD0-B2AB-1A9B-9830-6701BD3C0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4CAC2-1CD2-EB9D-4413-7B18C0069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15E8C-A2A1-77A0-CF4D-85AF6813F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6B2A6-DE72-03B5-79B0-E09B1F91A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3122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C901-791E-372B-208F-C255D0A0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C3853-07CC-F9A6-B28C-ED6F0C585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B04B3-C6E4-C9CC-B02C-8B3522ACF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0FE93-6F80-D6E6-CDA7-7237B3B1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E8399-5D00-90E2-F727-72A306FD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EFEF1-63DF-A336-FB79-A76AA1DC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2932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D36E-B2E3-AA7E-D643-C9141471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2B1B2-7D48-F159-E5D5-F165DD09F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53008-A9EC-F17B-9C4E-3312E15C0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28B83-4B98-5703-BD48-1790164D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5AF-99AA-AEF0-30AA-084D387B0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354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4D19C-1577-7014-A14E-60ED4BE7B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84D6D-B399-E889-88C3-AB6179549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BC6F-2FF1-6835-3B14-85CFB3B3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52117-07BA-7CBD-0142-1070FDA3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2211-70E7-E51D-9DFD-8026D4C8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22457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8C76C-F9A5-9E87-4625-36E7493C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7D9B2-7C63-CAD5-BD1C-70DE4E457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53146-066D-7DDB-A680-7F00F60A5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E0ED7-D9D4-4A8A-8709-B05835D8D3BD}" type="datetimeFigureOut">
              <a:rPr lang="en-NG" smtClean="0"/>
              <a:t>21/11/2025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A0C1E-C60E-0405-46BC-FA600F265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51F17-FF42-2470-98E0-F7787922F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3F40-9F36-4DDE-B88D-85B42DBE6FF6}" type="slidenum">
              <a:rPr lang="en-NG" smtClean="0"/>
              <a:t>‹#›</a:t>
            </a:fld>
            <a:endParaRPr lang="en-NG"/>
          </a:p>
        </p:txBody>
      </p:sp>
      <p:sp>
        <p:nvSpPr>
          <p:cNvPr id="7" name="Flowchart: Punched Tape 6">
            <a:extLst>
              <a:ext uri="{FF2B5EF4-FFF2-40B4-BE49-F238E27FC236}">
                <a16:creationId xmlns:a16="http://schemas.microsoft.com/office/drawing/2014/main" id="{BC1204B3-1FE5-0DA3-0112-FB3D019C996C}"/>
              </a:ext>
            </a:extLst>
          </p:cNvPr>
          <p:cNvSpPr/>
          <p:nvPr userDrawn="1"/>
        </p:nvSpPr>
        <p:spPr>
          <a:xfrm rot="8100000">
            <a:off x="-1282023" y="-805456"/>
            <a:ext cx="2743200" cy="2069603"/>
          </a:xfrm>
          <a:prstGeom prst="flowChartPunchedTape">
            <a:avLst/>
          </a:prstGeom>
          <a:gradFill>
            <a:gsLst>
              <a:gs pos="0">
                <a:srgbClr val="C6CBFE"/>
              </a:gs>
              <a:gs pos="67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8" name="Flowchart: Punched Tape 7">
            <a:extLst>
              <a:ext uri="{FF2B5EF4-FFF2-40B4-BE49-F238E27FC236}">
                <a16:creationId xmlns:a16="http://schemas.microsoft.com/office/drawing/2014/main" id="{2226FD17-1E20-8D89-D4DA-B96836EC1BEE}"/>
              </a:ext>
            </a:extLst>
          </p:cNvPr>
          <p:cNvSpPr/>
          <p:nvPr userDrawn="1"/>
        </p:nvSpPr>
        <p:spPr>
          <a:xfrm rot="8100000">
            <a:off x="10439400" y="5458073"/>
            <a:ext cx="2743200" cy="2069603"/>
          </a:xfrm>
          <a:prstGeom prst="flowChartPunchedTape">
            <a:avLst/>
          </a:prstGeom>
          <a:gradFill>
            <a:gsLst>
              <a:gs pos="60310">
                <a:srgbClr val="B0C2E9"/>
              </a:gs>
              <a:gs pos="1000">
                <a:srgbClr val="C8D1FC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6220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7777-09ED-0A4B-8698-098EEEF8A4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CITY GENERAL HOSPITAL OPERATIONAL PERFORMANCE ANALYSIS</a:t>
            </a:r>
            <a:endParaRPr lang="en-NG" dirty="0"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5E3D2-2547-1CB4-67CB-DCB6A52ED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8334"/>
            <a:ext cx="9144000" cy="972593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ADEMIJUBE VICTORIA</a:t>
            </a:r>
          </a:p>
        </p:txBody>
      </p:sp>
    </p:spTree>
    <p:extLst>
      <p:ext uri="{BB962C8B-B14F-4D97-AF65-F5344CB8AC3E}">
        <p14:creationId xmlns:p14="http://schemas.microsoft.com/office/powerpoint/2010/main" val="2151888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30E94-AB3D-81C6-A49D-F93E339D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Problem Statement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88345-3253-9001-32AD-FAE345964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lnSpcReduction="10000"/>
          </a:bodyPr>
          <a:lstStyle/>
          <a:p>
            <a:pPr marL="285750" lvl="0" indent="-285750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City General Hospital is facing operational breakdown across various departments.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There is an overcrowded emergency department and patients and preparation.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Some staff are complaining of high workload.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Medication stock is mismanaged leading to shortages and waste of expired excesses.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High rate of inconclusive lab tests.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Insurance reimbursement is inconsistent.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</a:pPr>
            <a:endParaRPr lang="en-GB" dirty="0">
              <a:solidFill>
                <a:schemeClr val="tx1"/>
              </a:solidFill>
            </a:endParaRP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</a:pPr>
            <a:endParaRPr lang="en-GB" dirty="0">
              <a:solidFill>
                <a:schemeClr val="tx1"/>
              </a:solidFill>
            </a:endParaRP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560231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3D503-036E-FD34-084F-453BB7A8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O</a:t>
            </a:r>
            <a:r>
              <a:rPr lang="en" b="1" dirty="0"/>
              <a:t>bjectives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8E72-378A-73E8-11D1-25E4A5D3E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50000"/>
              </a:lnSpc>
            </a:pPr>
            <a:r>
              <a:rPr lang="en-GB" dirty="0"/>
              <a:t>To understand patient demographics.</a:t>
            </a:r>
          </a:p>
          <a:p>
            <a:pPr marL="285750" indent="-285750">
              <a:lnSpc>
                <a:spcPct val="150000"/>
              </a:lnSpc>
            </a:pPr>
            <a:r>
              <a:rPr lang="en-GB" dirty="0"/>
              <a:t>To examine admission types to detect patterns in emergency spikes.</a:t>
            </a:r>
          </a:p>
          <a:p>
            <a:pPr marL="285750" indent="-285750">
              <a:lnSpc>
                <a:spcPct val="150000"/>
              </a:lnSpc>
            </a:pPr>
            <a:r>
              <a:rPr lang="en-GB" dirty="0"/>
              <a:t>To evaluate doctor workload distribution.</a:t>
            </a:r>
          </a:p>
          <a:p>
            <a:pPr marL="285750" indent="-285750">
              <a:lnSpc>
                <a:spcPct val="150000"/>
              </a:lnSpc>
            </a:pPr>
            <a:r>
              <a:rPr lang="en-GB" dirty="0"/>
              <a:t>To assess medication utilization patterns.</a:t>
            </a:r>
          </a:p>
          <a:p>
            <a:pPr marL="285750" indent="-285750">
              <a:lnSpc>
                <a:spcPct val="150000"/>
              </a:lnSpc>
            </a:pPr>
            <a:r>
              <a:rPr lang="en-GB" dirty="0"/>
              <a:t>To find the root causes of inconclusive laboratory results</a:t>
            </a:r>
          </a:p>
          <a:p>
            <a:pPr marL="285750" indent="-285750">
              <a:lnSpc>
                <a:spcPct val="150000"/>
              </a:lnSpc>
            </a:pPr>
            <a:r>
              <a:rPr lang="en-GB" dirty="0"/>
              <a:t>To analyse billing and insurance data to uncover underpaying insurance providers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31906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70B9D-6BFD-26B6-CC9B-FBBCBD62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Dataset Overview</a:t>
            </a: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6C8AC-0AD1-8934-5871-1F9B5F91CC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Data Source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City Hospital Dataset</a:t>
            </a:r>
          </a:p>
          <a:p>
            <a:pPr marL="13970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Original dataset structure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55500 rows  and 17 columns</a:t>
            </a:r>
          </a:p>
          <a:p>
            <a:pPr marL="13970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Cleaned dataset structure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55500 rows  and 19 columns</a:t>
            </a:r>
          </a:p>
          <a:p>
            <a:pPr>
              <a:spcAft>
                <a:spcPts val="600"/>
              </a:spcAft>
            </a:pP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96208D-160C-BF15-A632-2B2EF526B9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Data cleaning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rows with errors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duplicates  rows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missing values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data inconsistencies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41095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0D6B-570F-9D70-6D09-1132A19B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Methodology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7679A-910F-7EA0-6C56-D9A9CB80BA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Tools &amp; Techniques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 Microsoft Excel (Pivot Tables, Pivot Charts, Slicers).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Data cleaning and transformation in Excel.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 Dashboard layout and visualization best practices.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 Basic descriptive analytics and KPI design.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72AF9-9807-055C-AAB1-EEFE433C6F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Added columns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Age group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Admissions duration</a:t>
            </a:r>
            <a:endParaRPr lang="en-NG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endParaRPr lang="en-GB" dirty="0">
              <a:solidFill>
                <a:schemeClr val="tx1"/>
              </a:solidFill>
            </a:endParaRP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3816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C1C9A8-E7DA-B382-AFDB-8308A6AE5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5" y="64646"/>
            <a:ext cx="11898085" cy="65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C6DE7-6BE8-0DB0-B7BF-1A68CC4F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0A86-2ABE-8B26-2CFF-E0A67E668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1DE17-341F-CDE8-20B7-EA693D489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Total patients: 55500</a:t>
            </a:r>
          </a:p>
          <a:p>
            <a:r>
              <a:rPr lang="en-GB" dirty="0"/>
              <a:t>Total Doctors: 40341</a:t>
            </a:r>
          </a:p>
          <a:p>
            <a:r>
              <a:rPr lang="en-GB" dirty="0"/>
              <a:t>Teenagers represent the smallest group (1,693), 3% of the population</a:t>
            </a:r>
          </a:p>
          <a:p>
            <a:r>
              <a:rPr lang="en-GB" dirty="0"/>
              <a:t>The population is more of elderly (21,148).</a:t>
            </a:r>
          </a:p>
          <a:p>
            <a:r>
              <a:rPr lang="en-GB" dirty="0"/>
              <a:t>The admission types are almost evenly distributed.</a:t>
            </a:r>
          </a:p>
          <a:p>
            <a:r>
              <a:rPr lang="en-GB" dirty="0"/>
              <a:t>Elective admissions being the highest (</a:t>
            </a:r>
            <a:r>
              <a:rPr lang="en-NG" dirty="0"/>
              <a:t>18,655</a:t>
            </a:r>
            <a:r>
              <a:rPr lang="en-GB" dirty="0"/>
              <a:t>).</a:t>
            </a:r>
          </a:p>
          <a:p>
            <a:r>
              <a:rPr lang="en-GB" dirty="0"/>
              <a:t>Monthly admissions are consistent, showing no extreme spikes.</a:t>
            </a:r>
          </a:p>
          <a:p>
            <a:r>
              <a:rPr lang="en-GB" dirty="0"/>
              <a:t>Medicare Insurance has the highest enrolment, with 50% of the patients </a:t>
            </a:r>
            <a:r>
              <a:rPr lang="en-NG" dirty="0"/>
              <a:t>(27,750)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0285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0BEAD-97BC-3CBB-0873-451CD1DA9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61" y="198305"/>
            <a:ext cx="11597173" cy="656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67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4917-C588-0809-37A8-9A05BD69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C3B79-9502-ECEC-2506-C9DC5D6D9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Houston Methodist Hospital is handling a disproportionately high patient volume. </a:t>
            </a:r>
          </a:p>
          <a:p>
            <a:r>
              <a:rPr lang="en-GB" dirty="0"/>
              <a:t>This is more than one-third of the patients (20,402).</a:t>
            </a:r>
          </a:p>
          <a:p>
            <a:r>
              <a:rPr lang="en-GB" dirty="0"/>
              <a:t>Some doctors are handling significantly more patients than others.</a:t>
            </a:r>
          </a:p>
          <a:p>
            <a:r>
              <a:rPr lang="en-GB" dirty="0"/>
              <a:t>The top ten performing doctors had patient load varying between 17–27 patients.</a:t>
            </a:r>
          </a:p>
          <a:p>
            <a:r>
              <a:rPr lang="en-GB" dirty="0"/>
              <a:t>Meanwhile, the doctor to patient ratio is 1 : 1.4.</a:t>
            </a:r>
          </a:p>
          <a:p>
            <a:r>
              <a:rPr lang="en-GB" dirty="0"/>
              <a:t>Hypertension and Diabetes are the leading conditions (13,875 each).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2369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A626-EC75-E618-8E0F-A1B47D427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A964-A932-21CC-327E-A016AC30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22B5C-0FA8-F975-F5DC-793ADD242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352" y="1605286"/>
            <a:ext cx="10515600" cy="4795513"/>
          </a:xfrm>
        </p:spPr>
        <p:txBody>
          <a:bodyPr>
            <a:normAutofit/>
          </a:bodyPr>
          <a:lstStyle/>
          <a:p>
            <a:r>
              <a:rPr lang="en-GB" dirty="0"/>
              <a:t>Inconclusive test results were of most blood groups are the same count, 2775.</a:t>
            </a:r>
          </a:p>
          <a:p>
            <a:r>
              <a:rPr lang="en-GB" dirty="0"/>
              <a:t>This suggests that there could </a:t>
            </a:r>
            <a:r>
              <a:rPr lang="en-NG" dirty="0"/>
              <a:t>lab operational error</a:t>
            </a:r>
            <a:r>
              <a:rPr lang="en-GB" dirty="0"/>
              <a:t>.</a:t>
            </a:r>
            <a:r>
              <a:rPr lang="en-NG" b="1" dirty="0"/>
              <a:t> </a:t>
            </a:r>
            <a:endParaRPr lang="en-GB" b="1" dirty="0"/>
          </a:p>
          <a:p>
            <a:r>
              <a:rPr lang="en-GB" dirty="0"/>
              <a:t>Only patients with obesity and diabetes had inconclusive test results.</a:t>
            </a:r>
          </a:p>
          <a:p>
            <a:r>
              <a:rPr lang="en-GB" dirty="0"/>
              <a:t>This could be related to investigations for diabetes and obesity.</a:t>
            </a:r>
          </a:p>
          <a:p>
            <a:r>
              <a:rPr lang="en-GB" dirty="0"/>
              <a:t>There is not much difference between the number of drugs used, however, Penicillin is the least prescribed medication.</a:t>
            </a:r>
          </a:p>
        </p:txBody>
      </p:sp>
    </p:spTree>
    <p:extLst>
      <p:ext uri="{BB962C8B-B14F-4D97-AF65-F5344CB8AC3E}">
        <p14:creationId xmlns:p14="http://schemas.microsoft.com/office/powerpoint/2010/main" val="496904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7E76-6D17-55E3-874C-119EB653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Recommendation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1C9A-F1C5-7ED8-91C7-4012854E8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</a:t>
            </a:r>
            <a:r>
              <a:rPr lang="en-NG" dirty="0"/>
              <a:t>distribute doctor</a:t>
            </a:r>
            <a:r>
              <a:rPr lang="en-GB" dirty="0"/>
              <a:t> and hospital</a:t>
            </a:r>
            <a:r>
              <a:rPr lang="en-NG" dirty="0"/>
              <a:t> workload</a:t>
            </a:r>
            <a:r>
              <a:rPr lang="en-GB" dirty="0"/>
              <a:t>.</a:t>
            </a:r>
          </a:p>
          <a:p>
            <a:r>
              <a:rPr lang="en-GB" dirty="0"/>
              <a:t>Strengthen</a:t>
            </a:r>
            <a:r>
              <a:rPr lang="en-NG" dirty="0"/>
              <a:t> chronic disease management pathways</a:t>
            </a:r>
            <a:r>
              <a:rPr lang="en-GB" dirty="0"/>
              <a:t> such as hypertension and diabetes.</a:t>
            </a:r>
          </a:p>
          <a:p>
            <a:r>
              <a:rPr lang="en-GB" dirty="0"/>
              <a:t>Ad</a:t>
            </a:r>
            <a:r>
              <a:rPr lang="en-NG" dirty="0"/>
              <a:t>opt a hospital-wide digital health system</a:t>
            </a:r>
            <a:r>
              <a:rPr lang="en-GB" dirty="0"/>
              <a:t>.</a:t>
            </a:r>
          </a:p>
          <a:p>
            <a:r>
              <a:rPr lang="en-GB" dirty="0"/>
              <a:t>More data should be collected on insurance and amount reimbursed.</a:t>
            </a:r>
          </a:p>
          <a:p>
            <a:r>
              <a:rPr lang="en-GB" dirty="0"/>
              <a:t>Equipment used for diabetes and obesity investigations should be inspection.</a:t>
            </a:r>
          </a:p>
          <a:p>
            <a:r>
              <a:rPr lang="en-GB" dirty="0"/>
              <a:t>Implement a rea-time stock monitoring system to track stock balance of drug, expiry dated and </a:t>
            </a:r>
            <a:r>
              <a:rPr lang="en-GB"/>
              <a:t>daily trend.</a:t>
            </a:r>
            <a:endParaRPr lang="en-GB" dirty="0"/>
          </a:p>
          <a:p>
            <a:endParaRPr lang="en-NG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606235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EFB9-B6D7-1009-DDC0-B36D2511C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6940"/>
            <a:ext cx="9144000" cy="2302524"/>
          </a:xfrm>
        </p:spPr>
        <p:txBody>
          <a:bodyPr>
            <a:normAutofit/>
          </a:bodyPr>
          <a:lstStyle/>
          <a:p>
            <a:r>
              <a:rPr lang="en" sz="9600" b="1" dirty="0"/>
              <a:t>THANK YOU</a:t>
            </a:r>
            <a:endParaRPr lang="en-NG" sz="9600" dirty="0"/>
          </a:p>
        </p:txBody>
      </p:sp>
    </p:spTree>
    <p:extLst>
      <p:ext uri="{BB962C8B-B14F-4D97-AF65-F5344CB8AC3E}">
        <p14:creationId xmlns:p14="http://schemas.microsoft.com/office/powerpoint/2010/main" val="1376251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mbri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486</Words>
  <Application>Microsoft Office PowerPoint</Application>
  <PresentationFormat>Widescreen</PresentationFormat>
  <Paragraphs>70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Times New Roman</vt:lpstr>
      <vt:lpstr>Office Theme</vt:lpstr>
      <vt:lpstr>CITY GENERAL HOSPITAL OPERATIONAL PERFORMANCE ANALYSIS</vt:lpstr>
      <vt:lpstr>Problem Statement</vt:lpstr>
      <vt:lpstr>Objectives</vt:lpstr>
      <vt:lpstr>Dataset Overview</vt:lpstr>
      <vt:lpstr>Methodology</vt:lpstr>
      <vt:lpstr>PowerPoint Presentation</vt:lpstr>
      <vt:lpstr>Data Insight</vt:lpstr>
      <vt:lpstr>PowerPoint Presentation</vt:lpstr>
      <vt:lpstr>Data Insight</vt:lpstr>
      <vt:lpstr>Data Insight</vt:lpstr>
      <vt:lpstr>Recommendation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Ademijube</dc:creator>
  <cp:lastModifiedBy>Victoria Ademijube</cp:lastModifiedBy>
  <cp:revision>17</cp:revision>
  <dcterms:created xsi:type="dcterms:W3CDTF">2025-11-20T16:48:21Z</dcterms:created>
  <dcterms:modified xsi:type="dcterms:W3CDTF">2025-11-21T09:33:59Z</dcterms:modified>
</cp:coreProperties>
</file>